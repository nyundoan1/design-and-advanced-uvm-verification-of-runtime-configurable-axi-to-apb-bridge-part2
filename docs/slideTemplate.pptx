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Saira Heavy" charset="1" panose="00000A00000000000000"/>
      <p:regular r:id="rId42"/>
    </p:embeddedFont>
    <p:embeddedFont>
      <p:font typeface="Saira ExtraCondensed Bold" charset="1" panose="00000808000000000000"/>
      <p:regular r:id="rId43"/>
    </p:embeddedFont>
    <p:embeddedFont>
      <p:font typeface="Cabin Bold" charset="1" panose="00000800000000000000"/>
      <p:regular r:id="rId44"/>
    </p:embeddedFont>
    <p:embeddedFont>
      <p:font typeface="Cabin" charset="1" panose="000005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32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4292901"/>
            <a:ext cx="4935798" cy="6079772"/>
          </a:xfrm>
          <a:custGeom>
            <a:avLst/>
            <a:gdLst/>
            <a:ahLst/>
            <a:cxnLst/>
            <a:rect r="r" b="b" t="t" l="l"/>
            <a:pathLst>
              <a:path h="6079772" w="4935798">
                <a:moveTo>
                  <a:pt x="0" y="0"/>
                </a:moveTo>
                <a:lnTo>
                  <a:pt x="4935798" y="0"/>
                </a:lnTo>
                <a:lnTo>
                  <a:pt x="4935798" y="6079773"/>
                </a:lnTo>
                <a:lnTo>
                  <a:pt x="0" y="607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37302" y="4292901"/>
            <a:ext cx="6169748" cy="6079772"/>
          </a:xfrm>
          <a:custGeom>
            <a:avLst/>
            <a:gdLst/>
            <a:ahLst/>
            <a:cxnLst/>
            <a:rect r="r" b="b" t="t" l="l"/>
            <a:pathLst>
              <a:path h="6079772" w="6169748">
                <a:moveTo>
                  <a:pt x="0" y="0"/>
                </a:moveTo>
                <a:lnTo>
                  <a:pt x="6169748" y="0"/>
                </a:lnTo>
                <a:lnTo>
                  <a:pt x="6169748" y="6079773"/>
                </a:lnTo>
                <a:lnTo>
                  <a:pt x="0" y="6079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9951" y="2098308"/>
            <a:ext cx="2968098" cy="395104"/>
          </a:xfrm>
          <a:custGeom>
            <a:avLst/>
            <a:gdLst/>
            <a:ahLst/>
            <a:cxnLst/>
            <a:rect r="r" b="b" t="t" l="l"/>
            <a:pathLst>
              <a:path h="395104" w="2968098">
                <a:moveTo>
                  <a:pt x="0" y="0"/>
                </a:moveTo>
                <a:lnTo>
                  <a:pt x="2968098" y="0"/>
                </a:lnTo>
                <a:lnTo>
                  <a:pt x="2968098" y="395104"/>
                </a:lnTo>
                <a:lnTo>
                  <a:pt x="0" y="395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98413" y="529407"/>
            <a:ext cx="1676783" cy="1573987"/>
            <a:chOff x="0" y="0"/>
            <a:chExt cx="2235711" cy="2098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5711" cy="1785999"/>
            </a:xfrm>
            <a:custGeom>
              <a:avLst/>
              <a:gdLst/>
              <a:ahLst/>
              <a:cxnLst/>
              <a:rect r="r" b="b" t="t" l="l"/>
              <a:pathLst>
                <a:path h="1785999" w="2235711">
                  <a:moveTo>
                    <a:pt x="0" y="0"/>
                  </a:moveTo>
                  <a:lnTo>
                    <a:pt x="2235711" y="0"/>
                  </a:lnTo>
                  <a:lnTo>
                    <a:pt x="2235711" y="1785999"/>
                  </a:lnTo>
                  <a:lnTo>
                    <a:pt x="0" y="1785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20843" y="1147444"/>
              <a:ext cx="1105212" cy="951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2"/>
                </a:lnSpc>
              </a:pPr>
            </a:p>
            <a:p>
              <a:pPr algn="ctr">
                <a:lnSpc>
                  <a:spcPts val="2842"/>
                </a:lnSpc>
              </a:pPr>
              <a:r>
                <a:rPr lang="en-US" b="true" sz="2472">
                  <a:solidFill>
                    <a:srgbClr val="001590"/>
                  </a:solidFill>
                  <a:latin typeface="Saira Heavy"/>
                  <a:ea typeface="Saira Heavy"/>
                  <a:cs typeface="Saira Heavy"/>
                  <a:sym typeface="Saira Heavy"/>
                </a:rPr>
                <a:t>FEEE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00845" y="3320961"/>
            <a:ext cx="1148631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THIẾT KẾ VÀ XÂY DỰNG</a:t>
            </a:r>
          </a:p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PHƯƠNG PHÁP KIỂM CHỨNG UVM CHO</a:t>
            </a:r>
          </a:p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RUNTIME-CONFIGURABLE AXI-TO-APB BRIDGE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76854" y="6280629"/>
            <a:ext cx="3334292" cy="385467"/>
          </a:xfrm>
          <a:custGeom>
            <a:avLst/>
            <a:gdLst/>
            <a:ahLst/>
            <a:cxnLst/>
            <a:rect r="r" b="b" t="t" l="l"/>
            <a:pathLst>
              <a:path h="385467" w="3334292">
                <a:moveTo>
                  <a:pt x="0" y="0"/>
                </a:moveTo>
                <a:lnTo>
                  <a:pt x="3334292" y="0"/>
                </a:lnTo>
                <a:lnTo>
                  <a:pt x="3334292" y="385467"/>
                </a:lnTo>
                <a:lnTo>
                  <a:pt x="0" y="385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50780" y="6849193"/>
            <a:ext cx="1859880" cy="578201"/>
          </a:xfrm>
          <a:custGeom>
            <a:avLst/>
            <a:gdLst/>
            <a:ahLst/>
            <a:cxnLst/>
            <a:rect r="r" b="b" t="t" l="l"/>
            <a:pathLst>
              <a:path h="578201" w="1859880">
                <a:moveTo>
                  <a:pt x="0" y="0"/>
                </a:moveTo>
                <a:lnTo>
                  <a:pt x="1859880" y="0"/>
                </a:lnTo>
                <a:lnTo>
                  <a:pt x="1859880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50780" y="7986322"/>
            <a:ext cx="1859880" cy="578201"/>
          </a:xfrm>
          <a:custGeom>
            <a:avLst/>
            <a:gdLst/>
            <a:ahLst/>
            <a:cxnLst/>
            <a:rect r="r" b="b" t="t" l="l"/>
            <a:pathLst>
              <a:path h="578201" w="1859880">
                <a:moveTo>
                  <a:pt x="0" y="0"/>
                </a:moveTo>
                <a:lnTo>
                  <a:pt x="1859880" y="0"/>
                </a:lnTo>
                <a:lnTo>
                  <a:pt x="1859880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76854" y="8747620"/>
            <a:ext cx="3334292" cy="385467"/>
          </a:xfrm>
          <a:custGeom>
            <a:avLst/>
            <a:gdLst/>
            <a:ahLst/>
            <a:cxnLst/>
            <a:rect r="r" b="b" t="t" l="l"/>
            <a:pathLst>
              <a:path h="385467" w="3334292">
                <a:moveTo>
                  <a:pt x="0" y="0"/>
                </a:moveTo>
                <a:lnTo>
                  <a:pt x="3334292" y="0"/>
                </a:lnTo>
                <a:lnTo>
                  <a:pt x="3334292" y="385467"/>
                </a:lnTo>
                <a:lnTo>
                  <a:pt x="0" y="3854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00984" y="2569612"/>
            <a:ext cx="3286032" cy="49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3"/>
              </a:lnSpc>
            </a:pPr>
            <a:r>
              <a:rPr lang="en-US" b="true" sz="2902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ĐỒ ÁN TỐT NGHIỆP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11825" y="7453895"/>
            <a:ext cx="1924253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ĐOÀN LÊ NHÂN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5480" y="7453895"/>
            <a:ext cx="1924253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MSSV: 22161298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5786" y="9348544"/>
            <a:ext cx="3256428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</a:pPr>
            <a:r>
              <a:rPr lang="en-US" sz="1969">
                <a:solidFill>
                  <a:srgbClr val="001F60"/>
                </a:solidFill>
                <a:latin typeface="Cabin"/>
                <a:ea typeface="Cabin"/>
                <a:cs typeface="Cabin"/>
                <a:sym typeface="Cabin"/>
              </a:rPr>
              <a:t>TP. HỒ CHÍ MINH - 07/2026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11825" y="6950629"/>
            <a:ext cx="2264698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NGUYỄN VÂN ANH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1825" y="8065709"/>
            <a:ext cx="2634746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TS. PHẠM VĂN KHOA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75480" y="6950629"/>
            <a:ext cx="1924253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MSSV: 22161219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2325" y="6950629"/>
            <a:ext cx="1169354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</a:pPr>
            <a:r>
              <a:rPr lang="en-US" sz="1969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Sinh viên: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28712" y="8045973"/>
            <a:ext cx="1361779" cy="34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</a:pPr>
            <a:r>
              <a:rPr lang="en-US" sz="1969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Hướng dẫn: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96016" y="647533"/>
            <a:ext cx="9095969" cy="129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b="true" sz="2507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TRƯỜNG ĐẠI HỌC CÔNG NGHỆ KỸ THUẬT TP. HỒ CHÍ MINH</a:t>
            </a:r>
          </a:p>
          <a:p>
            <a:pPr algn="ctr">
              <a:lnSpc>
                <a:spcPts val="3511"/>
              </a:lnSpc>
            </a:pPr>
            <a:r>
              <a:rPr lang="en-US" b="true" sz="2507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KHOA ĐIỆN - ĐIỆN TỬ</a:t>
            </a:r>
          </a:p>
          <a:p>
            <a:pPr algn="ctr">
              <a:lnSpc>
                <a:spcPts val="3511"/>
              </a:lnSpc>
            </a:pPr>
            <a:r>
              <a:rPr lang="en-US" b="true" sz="2507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BỘ MÔN KỸ THUẬT ĐIỆN TỬ - THÔNG TIN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47545" y="475359"/>
            <a:ext cx="1338871" cy="1682084"/>
            <a:chOff x="0" y="0"/>
            <a:chExt cx="1785161" cy="22427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5195" y="0"/>
              <a:ext cx="1654771" cy="1776176"/>
            </a:xfrm>
            <a:custGeom>
              <a:avLst/>
              <a:gdLst/>
              <a:ahLst/>
              <a:cxnLst/>
              <a:rect r="r" b="b" t="t" l="l"/>
              <a:pathLst>
                <a:path h="1776176" w="1654771">
                  <a:moveTo>
                    <a:pt x="0" y="0"/>
                  </a:moveTo>
                  <a:lnTo>
                    <a:pt x="1654771" y="0"/>
                  </a:lnTo>
                  <a:lnTo>
                    <a:pt x="1654771" y="1776176"/>
                  </a:lnTo>
                  <a:lnTo>
                    <a:pt x="0" y="1776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87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1620478"/>
              <a:ext cx="1785161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4"/>
                </a:lnSpc>
              </a:pPr>
              <a:r>
                <a:rPr lang="en-US" b="true" sz="3078">
                  <a:solidFill>
                    <a:srgbClr val="001590"/>
                  </a:solidFill>
                  <a:latin typeface="Saira ExtraCondensed Bold"/>
                  <a:ea typeface="Saira ExtraCondensed Bold"/>
                  <a:cs typeface="Saira ExtraCondensed Bold"/>
                  <a:sym typeface="Saira ExtraCondensed Bold"/>
                </a:rPr>
                <a:t>HCM-UTE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6512" y="2242953"/>
            <a:ext cx="4127537" cy="578201"/>
          </a:xfrm>
          <a:custGeom>
            <a:avLst/>
            <a:gdLst/>
            <a:ahLst/>
            <a:cxnLst/>
            <a:rect r="r" b="b" t="t" l="l"/>
            <a:pathLst>
              <a:path h="578201" w="4127537">
                <a:moveTo>
                  <a:pt x="0" y="0"/>
                </a:moveTo>
                <a:lnTo>
                  <a:pt x="4127536" y="0"/>
                </a:lnTo>
                <a:lnTo>
                  <a:pt x="4127536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962" r="0" b="-609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36512" y="3430754"/>
            <a:ext cx="4970440" cy="578201"/>
          </a:xfrm>
          <a:custGeom>
            <a:avLst/>
            <a:gdLst/>
            <a:ahLst/>
            <a:cxnLst/>
            <a:rect r="r" b="b" t="t" l="l"/>
            <a:pathLst>
              <a:path h="578201" w="4970440">
                <a:moveTo>
                  <a:pt x="0" y="0"/>
                </a:moveTo>
                <a:lnTo>
                  <a:pt x="4970439" y="0"/>
                </a:lnTo>
                <a:lnTo>
                  <a:pt x="4970439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622" r="0" b="-836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36512" y="4504255"/>
            <a:ext cx="6065911" cy="578201"/>
          </a:xfrm>
          <a:custGeom>
            <a:avLst/>
            <a:gdLst/>
            <a:ahLst/>
            <a:cxnLst/>
            <a:rect r="r" b="b" t="t" l="l"/>
            <a:pathLst>
              <a:path h="578201" w="6065911">
                <a:moveTo>
                  <a:pt x="0" y="0"/>
                </a:moveTo>
                <a:lnTo>
                  <a:pt x="6065910" y="0"/>
                </a:lnTo>
                <a:lnTo>
                  <a:pt x="6065910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072" r="0" b="-11307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36512" y="5692056"/>
            <a:ext cx="6524574" cy="578201"/>
          </a:xfrm>
          <a:custGeom>
            <a:avLst/>
            <a:gdLst/>
            <a:ahLst/>
            <a:cxnLst/>
            <a:rect r="r" b="b" t="t" l="l"/>
            <a:pathLst>
              <a:path h="578201" w="6524574">
                <a:moveTo>
                  <a:pt x="0" y="0"/>
                </a:moveTo>
                <a:lnTo>
                  <a:pt x="6524574" y="0"/>
                </a:lnTo>
                <a:lnTo>
                  <a:pt x="6524574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5403" r="0" b="-1254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6512" y="6822707"/>
            <a:ext cx="7107488" cy="578201"/>
          </a:xfrm>
          <a:custGeom>
            <a:avLst/>
            <a:gdLst/>
            <a:ahLst/>
            <a:cxnLst/>
            <a:rect r="r" b="b" t="t" l="l"/>
            <a:pathLst>
              <a:path h="578201" w="7107488">
                <a:moveTo>
                  <a:pt x="0" y="0"/>
                </a:moveTo>
                <a:lnTo>
                  <a:pt x="7107488" y="0"/>
                </a:lnTo>
                <a:lnTo>
                  <a:pt x="7107488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073" r="0" b="-14107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6512" y="8010508"/>
            <a:ext cx="7717918" cy="578201"/>
          </a:xfrm>
          <a:custGeom>
            <a:avLst/>
            <a:gdLst/>
            <a:ahLst/>
            <a:cxnLst/>
            <a:rect r="r" b="b" t="t" l="l"/>
            <a:pathLst>
              <a:path h="578201" w="7717918">
                <a:moveTo>
                  <a:pt x="0" y="0"/>
                </a:moveTo>
                <a:lnTo>
                  <a:pt x="7717918" y="0"/>
                </a:lnTo>
                <a:lnTo>
                  <a:pt x="7717918" y="578201"/>
                </a:lnTo>
                <a:lnTo>
                  <a:pt x="0" y="5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484" r="0" b="-15748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252857" y="0"/>
            <a:ext cx="10618508" cy="10618508"/>
            <a:chOff x="0" y="0"/>
            <a:chExt cx="736600" cy="73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294643"/>
                  </a:moveTo>
                  <a:cubicBezTo>
                    <a:pt x="327642" y="294643"/>
                    <a:pt x="294637" y="327647"/>
                    <a:pt x="294637" y="368294"/>
                  </a:cubicBezTo>
                  <a:cubicBezTo>
                    <a:pt x="294637" y="408953"/>
                    <a:pt x="327642" y="441957"/>
                    <a:pt x="368297" y="441957"/>
                  </a:cubicBezTo>
                  <a:cubicBezTo>
                    <a:pt x="408951" y="441957"/>
                    <a:pt x="441957" y="408953"/>
                    <a:pt x="441957" y="368294"/>
                  </a:cubicBezTo>
                  <a:cubicBezTo>
                    <a:pt x="441957" y="327647"/>
                    <a:pt x="408951" y="294643"/>
                    <a:pt x="368297" y="294643"/>
                  </a:cubicBezTo>
                  <a:close/>
                </a:path>
              </a:pathLst>
            </a:custGeom>
            <a:solidFill>
              <a:srgbClr val="001590">
                <a:alpha val="12941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6050" y="98425"/>
              <a:ext cx="4445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915090" y="8316378"/>
            <a:ext cx="4368996" cy="4114800"/>
          </a:xfrm>
          <a:custGeom>
            <a:avLst/>
            <a:gdLst/>
            <a:ahLst/>
            <a:cxnLst/>
            <a:rect r="r" b="b" t="t" l="l"/>
            <a:pathLst>
              <a:path h="4114800" w="4368996">
                <a:moveTo>
                  <a:pt x="0" y="0"/>
                </a:moveTo>
                <a:lnTo>
                  <a:pt x="4368996" y="0"/>
                </a:lnTo>
                <a:lnTo>
                  <a:pt x="4368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9501" y="616371"/>
            <a:ext cx="436139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NỘI DUNG CHÍNH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6372" y="2242429"/>
            <a:ext cx="2447540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1 ĐẶT VẤN ĐỀ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6372" y="3430230"/>
            <a:ext cx="3540807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2 MỤC TIÊU ĐỒ ÁN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6372" y="4503731"/>
            <a:ext cx="5243489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3 PHƯƠNG PHÁP GIẢI QUYẾT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46372" y="5691532"/>
            <a:ext cx="5756050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4 TRIỂN KHAI QUY TRÌNH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6372" y="6822183"/>
            <a:ext cx="5243489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5 KẾT QUẢ THỰC HIỆN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6372" y="8009984"/>
            <a:ext cx="7635353" cy="5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6 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" r="0" b="-33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656" y="1961876"/>
            <a:ext cx="6497713" cy="3086414"/>
          </a:xfrm>
          <a:custGeom>
            <a:avLst/>
            <a:gdLst/>
            <a:ahLst/>
            <a:cxnLst/>
            <a:rect r="r" b="b" t="t" l="l"/>
            <a:pathLst>
              <a:path h="3086414" w="6497713">
                <a:moveTo>
                  <a:pt x="0" y="0"/>
                </a:moveTo>
                <a:lnTo>
                  <a:pt x="6497713" y="0"/>
                </a:lnTo>
                <a:lnTo>
                  <a:pt x="6497713" y="3086414"/>
                </a:lnTo>
                <a:lnTo>
                  <a:pt x="0" y="3086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656" y="4829951"/>
            <a:ext cx="7283325" cy="3506330"/>
          </a:xfrm>
          <a:custGeom>
            <a:avLst/>
            <a:gdLst/>
            <a:ahLst/>
            <a:cxnLst/>
            <a:rect r="r" b="b" t="t" l="l"/>
            <a:pathLst>
              <a:path h="3506330" w="7283325">
                <a:moveTo>
                  <a:pt x="0" y="0"/>
                </a:moveTo>
                <a:lnTo>
                  <a:pt x="7283325" y="0"/>
                </a:lnTo>
                <a:lnTo>
                  <a:pt x="7283325" y="3506330"/>
                </a:lnTo>
                <a:lnTo>
                  <a:pt x="0" y="3506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17368" y="1676656"/>
            <a:ext cx="11853264" cy="7791888"/>
          </a:xfrm>
          <a:custGeom>
            <a:avLst/>
            <a:gdLst/>
            <a:ahLst/>
            <a:cxnLst/>
            <a:rect r="r" b="b" t="t" l="l"/>
            <a:pathLst>
              <a:path h="7791888" w="11853264">
                <a:moveTo>
                  <a:pt x="0" y="0"/>
                </a:moveTo>
                <a:lnTo>
                  <a:pt x="11853264" y="0"/>
                </a:lnTo>
                <a:lnTo>
                  <a:pt x="11853264" y="7791887"/>
                </a:lnTo>
                <a:lnTo>
                  <a:pt x="0" y="779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01420" y="9465006"/>
            <a:ext cx="26283733" cy="6760219"/>
          </a:xfrm>
          <a:custGeom>
            <a:avLst/>
            <a:gdLst/>
            <a:ahLst/>
            <a:cxnLst/>
            <a:rect r="r" b="b" t="t" l="l"/>
            <a:pathLst>
              <a:path h="6760219" w="26283733">
                <a:moveTo>
                  <a:pt x="0" y="0"/>
                </a:moveTo>
                <a:lnTo>
                  <a:pt x="26283733" y="0"/>
                </a:lnTo>
                <a:lnTo>
                  <a:pt x="26283733" y="6760220"/>
                </a:lnTo>
                <a:lnTo>
                  <a:pt x="0" y="676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712358" y="167652"/>
            <a:ext cx="1148631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5. KẾT QUẢ THỰC HIỆN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4962866" y="9546102"/>
            <a:ext cx="2880612" cy="740898"/>
          </a:xfrm>
          <a:custGeom>
            <a:avLst/>
            <a:gdLst/>
            <a:ahLst/>
            <a:cxnLst/>
            <a:rect r="r" b="b" t="t" l="l"/>
            <a:pathLst>
              <a:path h="740898" w="2880612">
                <a:moveTo>
                  <a:pt x="0" y="0"/>
                </a:moveTo>
                <a:lnTo>
                  <a:pt x="2880612" y="0"/>
                </a:lnTo>
                <a:lnTo>
                  <a:pt x="2880612" y="740898"/>
                </a:lnTo>
                <a:lnTo>
                  <a:pt x="0" y="740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65915" y="9546102"/>
            <a:ext cx="2880612" cy="740898"/>
          </a:xfrm>
          <a:custGeom>
            <a:avLst/>
            <a:gdLst/>
            <a:ahLst/>
            <a:cxnLst/>
            <a:rect r="r" b="b" t="t" l="l"/>
            <a:pathLst>
              <a:path h="740898" w="2880612">
                <a:moveTo>
                  <a:pt x="0" y="0"/>
                </a:moveTo>
                <a:lnTo>
                  <a:pt x="2880612" y="0"/>
                </a:lnTo>
                <a:lnTo>
                  <a:pt x="2880612" y="740898"/>
                </a:lnTo>
                <a:lnTo>
                  <a:pt x="0" y="740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14261" y="3749695"/>
            <a:ext cx="5452371" cy="164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9"/>
              </a:lnSpc>
            </a:pPr>
            <a:r>
              <a:rPr lang="en-US" sz="47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ĐỂ ẢNH WAVE VÔ THÔI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65915" y="9546102"/>
            <a:ext cx="2880612" cy="740898"/>
          </a:xfrm>
          <a:custGeom>
            <a:avLst/>
            <a:gdLst/>
            <a:ahLst/>
            <a:cxnLst/>
            <a:rect r="r" b="b" t="t" l="l"/>
            <a:pathLst>
              <a:path h="740898" w="2880612">
                <a:moveTo>
                  <a:pt x="0" y="0"/>
                </a:moveTo>
                <a:lnTo>
                  <a:pt x="2880612" y="0"/>
                </a:lnTo>
                <a:lnTo>
                  <a:pt x="2880612" y="740898"/>
                </a:lnTo>
                <a:lnTo>
                  <a:pt x="0" y="740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86434" y="1328966"/>
            <a:ext cx="6257566" cy="5660027"/>
          </a:xfrm>
          <a:custGeom>
            <a:avLst/>
            <a:gdLst/>
            <a:ahLst/>
            <a:cxnLst/>
            <a:rect r="r" b="b" t="t" l="l"/>
            <a:pathLst>
              <a:path h="5660027" w="6257566">
                <a:moveTo>
                  <a:pt x="0" y="0"/>
                </a:moveTo>
                <a:lnTo>
                  <a:pt x="6257566" y="0"/>
                </a:lnTo>
                <a:lnTo>
                  <a:pt x="6257566" y="5660027"/>
                </a:lnTo>
                <a:lnTo>
                  <a:pt x="0" y="5660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142" y="6988993"/>
            <a:ext cx="13929258" cy="3316490"/>
          </a:xfrm>
          <a:custGeom>
            <a:avLst/>
            <a:gdLst/>
            <a:ahLst/>
            <a:cxnLst/>
            <a:rect r="r" b="b" t="t" l="l"/>
            <a:pathLst>
              <a:path h="3316490" w="13929258">
                <a:moveTo>
                  <a:pt x="0" y="0"/>
                </a:moveTo>
                <a:lnTo>
                  <a:pt x="13929258" y="0"/>
                </a:lnTo>
                <a:lnTo>
                  <a:pt x="13929258" y="3316490"/>
                </a:lnTo>
                <a:lnTo>
                  <a:pt x="0" y="3316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962866" y="9546102"/>
            <a:ext cx="2880612" cy="740898"/>
          </a:xfrm>
          <a:custGeom>
            <a:avLst/>
            <a:gdLst/>
            <a:ahLst/>
            <a:cxnLst/>
            <a:rect r="r" b="b" t="t" l="l"/>
            <a:pathLst>
              <a:path h="740898" w="2880612">
                <a:moveTo>
                  <a:pt x="0" y="0"/>
                </a:moveTo>
                <a:lnTo>
                  <a:pt x="2880612" y="0"/>
                </a:lnTo>
                <a:lnTo>
                  <a:pt x="2880612" y="740898"/>
                </a:lnTo>
                <a:lnTo>
                  <a:pt x="0" y="740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712358" y="167652"/>
            <a:ext cx="1148631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b="true" sz="6632">
                <a:solidFill>
                  <a:srgbClr val="001F60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5. KẾT QUẢ THỰC HIỆN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10462" y="3176366"/>
            <a:ext cx="5452371" cy="248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9"/>
              </a:lnSpc>
            </a:pPr>
            <a:r>
              <a:rPr lang="en-US" sz="47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KIỂU GÌ CX HỎI CODE COV SAO LẠI CHỈ ĐẠT 81%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122856" y="1369526"/>
            <a:ext cx="8476736" cy="4026450"/>
          </a:xfrm>
          <a:custGeom>
            <a:avLst/>
            <a:gdLst/>
            <a:ahLst/>
            <a:cxnLst/>
            <a:rect r="r" b="b" t="t" l="l"/>
            <a:pathLst>
              <a:path h="4026450" w="8476736">
                <a:moveTo>
                  <a:pt x="0" y="0"/>
                </a:moveTo>
                <a:lnTo>
                  <a:pt x="8476736" y="0"/>
                </a:lnTo>
                <a:lnTo>
                  <a:pt x="8476736" y="4026449"/>
                </a:lnTo>
                <a:lnTo>
                  <a:pt x="0" y="4026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22856" y="5310069"/>
            <a:ext cx="9334662" cy="4493883"/>
          </a:xfrm>
          <a:custGeom>
            <a:avLst/>
            <a:gdLst/>
            <a:ahLst/>
            <a:cxnLst/>
            <a:rect r="r" b="b" t="t" l="l"/>
            <a:pathLst>
              <a:path h="4493883" w="9334662">
                <a:moveTo>
                  <a:pt x="0" y="0"/>
                </a:moveTo>
                <a:lnTo>
                  <a:pt x="9334662" y="0"/>
                </a:lnTo>
                <a:lnTo>
                  <a:pt x="9334662" y="4493883"/>
                </a:lnTo>
                <a:lnTo>
                  <a:pt x="0" y="4493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5544" y="9684198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tổng thể của Runtime-Configurable AXI-to-APB Bridge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5202" y="1556603"/>
            <a:ext cx="4996573" cy="7429116"/>
          </a:xfrm>
          <a:custGeom>
            <a:avLst/>
            <a:gdLst/>
            <a:ahLst/>
            <a:cxnLst/>
            <a:rect r="r" b="b" t="t" l="l"/>
            <a:pathLst>
              <a:path h="7429116" w="4996573">
                <a:moveTo>
                  <a:pt x="0" y="0"/>
                </a:moveTo>
                <a:lnTo>
                  <a:pt x="4996574" y="0"/>
                </a:lnTo>
                <a:lnTo>
                  <a:pt x="4996574" y="7429115"/>
                </a:lnTo>
                <a:lnTo>
                  <a:pt x="0" y="7429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AXI Clock Domain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2730" y="2754556"/>
            <a:ext cx="13966382" cy="5022255"/>
          </a:xfrm>
          <a:custGeom>
            <a:avLst/>
            <a:gdLst/>
            <a:ahLst/>
            <a:cxnLst/>
            <a:rect r="r" b="b" t="t" l="l"/>
            <a:pathLst>
              <a:path h="5022255" w="13966382">
                <a:moveTo>
                  <a:pt x="0" y="0"/>
                </a:moveTo>
                <a:lnTo>
                  <a:pt x="13966383" y="0"/>
                </a:lnTo>
                <a:lnTo>
                  <a:pt x="13966383" y="5022255"/>
                </a:lnTo>
                <a:lnTo>
                  <a:pt x="0" y="5022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Read Address FIFO (AR FIFO)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2212" y="2693615"/>
            <a:ext cx="16074546" cy="5384422"/>
          </a:xfrm>
          <a:custGeom>
            <a:avLst/>
            <a:gdLst/>
            <a:ahLst/>
            <a:cxnLst/>
            <a:rect r="r" b="b" t="t" l="l"/>
            <a:pathLst>
              <a:path h="5384422" w="16074546">
                <a:moveTo>
                  <a:pt x="0" y="0"/>
                </a:moveTo>
                <a:lnTo>
                  <a:pt x="16074546" y="0"/>
                </a:lnTo>
                <a:lnTo>
                  <a:pt x="16074546" y="5384422"/>
                </a:lnTo>
                <a:lnTo>
                  <a:pt x="0" y="5384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Write Address FIFO (AW FIFO)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2212" y="2866689"/>
            <a:ext cx="16039920" cy="5384368"/>
          </a:xfrm>
          <a:custGeom>
            <a:avLst/>
            <a:gdLst/>
            <a:ahLst/>
            <a:cxnLst/>
            <a:rect r="r" b="b" t="t" l="l"/>
            <a:pathLst>
              <a:path h="5384368" w="16039920">
                <a:moveTo>
                  <a:pt x="0" y="0"/>
                </a:moveTo>
                <a:lnTo>
                  <a:pt x="16039920" y="0"/>
                </a:lnTo>
                <a:lnTo>
                  <a:pt x="16039920" y="5384368"/>
                </a:lnTo>
                <a:lnTo>
                  <a:pt x="0" y="5384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Write Data FIFO (W FIFO)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563" y="2566566"/>
            <a:ext cx="17138149" cy="5378639"/>
          </a:xfrm>
          <a:custGeom>
            <a:avLst/>
            <a:gdLst/>
            <a:ahLst/>
            <a:cxnLst/>
            <a:rect r="r" b="b" t="t" l="l"/>
            <a:pathLst>
              <a:path h="5378639" w="17138149">
                <a:moveTo>
                  <a:pt x="0" y="0"/>
                </a:moveTo>
                <a:lnTo>
                  <a:pt x="17138148" y="0"/>
                </a:lnTo>
                <a:lnTo>
                  <a:pt x="17138148" y="5378639"/>
                </a:lnTo>
                <a:lnTo>
                  <a:pt x="0" y="537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Read Data FIFO (RD FIFO)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7062" y="2645877"/>
            <a:ext cx="15392238" cy="5609927"/>
          </a:xfrm>
          <a:custGeom>
            <a:avLst/>
            <a:gdLst/>
            <a:ahLst/>
            <a:cxnLst/>
            <a:rect r="r" b="b" t="t" l="l"/>
            <a:pathLst>
              <a:path h="5609927" w="15392238">
                <a:moveTo>
                  <a:pt x="0" y="0"/>
                </a:moveTo>
                <a:lnTo>
                  <a:pt x="15392238" y="0"/>
                </a:lnTo>
                <a:lnTo>
                  <a:pt x="15392238" y="5609927"/>
                </a:lnTo>
                <a:lnTo>
                  <a:pt x="0" y="5609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Buffer Response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97461" y="1699006"/>
            <a:ext cx="12293079" cy="7559294"/>
          </a:xfrm>
          <a:custGeom>
            <a:avLst/>
            <a:gdLst/>
            <a:ahLst/>
            <a:cxnLst/>
            <a:rect r="r" b="b" t="t" l="l"/>
            <a:pathLst>
              <a:path h="7559294" w="12293079">
                <a:moveTo>
                  <a:pt x="0" y="0"/>
                </a:moveTo>
                <a:lnTo>
                  <a:pt x="12293078" y="0"/>
                </a:lnTo>
                <a:lnTo>
                  <a:pt x="12293078" y="7559294"/>
                </a:lnTo>
                <a:lnTo>
                  <a:pt x="0" y="7559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APB Clock Domain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05157" y="1561363"/>
            <a:ext cx="4716664" cy="7648927"/>
          </a:xfrm>
          <a:custGeom>
            <a:avLst/>
            <a:gdLst/>
            <a:ahLst/>
            <a:cxnLst/>
            <a:rect r="r" b="b" t="t" l="l"/>
            <a:pathLst>
              <a:path h="7648927" w="4716664">
                <a:moveTo>
                  <a:pt x="0" y="0"/>
                </a:moveTo>
                <a:lnTo>
                  <a:pt x="4716664" y="0"/>
                </a:lnTo>
                <a:lnTo>
                  <a:pt x="4716664" y="7648927"/>
                </a:lnTo>
                <a:lnTo>
                  <a:pt x="0" y="7648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APB_MASTER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3751" y="1508074"/>
            <a:ext cx="7479476" cy="7755504"/>
          </a:xfrm>
          <a:custGeom>
            <a:avLst/>
            <a:gdLst/>
            <a:ahLst/>
            <a:cxnLst/>
            <a:rect r="r" b="b" t="t" l="l"/>
            <a:pathLst>
              <a:path h="7755504" w="7479476">
                <a:moveTo>
                  <a:pt x="0" y="0"/>
                </a:moveTo>
                <a:lnTo>
                  <a:pt x="7479476" y="0"/>
                </a:lnTo>
                <a:lnTo>
                  <a:pt x="7479476" y="7755504"/>
                </a:lnTo>
                <a:lnTo>
                  <a:pt x="0" y="7755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trạng thái FSM của khối RW_SELECT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6396" y="1648429"/>
            <a:ext cx="15183585" cy="7474796"/>
          </a:xfrm>
          <a:custGeom>
            <a:avLst/>
            <a:gdLst/>
            <a:ahLst/>
            <a:cxnLst/>
            <a:rect r="r" b="b" t="t" l="l"/>
            <a:pathLst>
              <a:path h="7474796" w="15183585">
                <a:moveTo>
                  <a:pt x="0" y="0"/>
                </a:moveTo>
                <a:lnTo>
                  <a:pt x="15183585" y="0"/>
                </a:lnTo>
                <a:lnTo>
                  <a:pt x="15183585" y="7474795"/>
                </a:lnTo>
                <a:lnTo>
                  <a:pt x="0" y="7474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Nguyên lý tính địa chỉ của ADDR_DECODER theo loại burst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12608" y="1832869"/>
            <a:ext cx="9811161" cy="7664415"/>
          </a:xfrm>
          <a:custGeom>
            <a:avLst/>
            <a:gdLst/>
            <a:ahLst/>
            <a:cxnLst/>
            <a:rect r="r" b="b" t="t" l="l"/>
            <a:pathLst>
              <a:path h="7664415" w="9811161">
                <a:moveTo>
                  <a:pt x="0" y="0"/>
                </a:moveTo>
                <a:lnTo>
                  <a:pt x="9811161" y="0"/>
                </a:lnTo>
                <a:lnTo>
                  <a:pt x="9811161" y="7664415"/>
                </a:lnTo>
                <a:lnTo>
                  <a:pt x="0" y="7664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APB_REGISTER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7062" y="2645877"/>
            <a:ext cx="15392238" cy="5609927"/>
          </a:xfrm>
          <a:custGeom>
            <a:avLst/>
            <a:gdLst/>
            <a:ahLst/>
            <a:cxnLst/>
            <a:rect r="r" b="b" t="t" l="l"/>
            <a:pathLst>
              <a:path h="5609927" w="15392238">
                <a:moveTo>
                  <a:pt x="0" y="0"/>
                </a:moveTo>
                <a:lnTo>
                  <a:pt x="15392238" y="0"/>
                </a:lnTo>
                <a:lnTo>
                  <a:pt x="15392238" y="5609927"/>
                </a:lnTo>
                <a:lnTo>
                  <a:pt x="0" y="5609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867220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A – CHI TIẾT KIẾN TRÚC RTL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Sơ đồ khối Buffer Response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2350" y="3526011"/>
            <a:ext cx="14723300" cy="3234979"/>
          </a:xfrm>
          <a:custGeom>
            <a:avLst/>
            <a:gdLst/>
            <a:ahLst/>
            <a:cxnLst/>
            <a:rect r="r" b="b" t="t" l="l"/>
            <a:pathLst>
              <a:path h="3234979" w="14723300">
                <a:moveTo>
                  <a:pt x="0" y="0"/>
                </a:moveTo>
                <a:lnTo>
                  <a:pt x="14723300" y="0"/>
                </a:lnTo>
                <a:lnTo>
                  <a:pt x="14723300" y="3234978"/>
                </a:lnTo>
                <a:lnTo>
                  <a:pt x="0" y="323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B – REGISTER MAP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6475" y="2288951"/>
            <a:ext cx="14799748" cy="3638476"/>
          </a:xfrm>
          <a:custGeom>
            <a:avLst/>
            <a:gdLst/>
            <a:ahLst/>
            <a:cxnLst/>
            <a:rect r="r" b="b" t="t" l="l"/>
            <a:pathLst>
              <a:path h="3638476" w="14799748">
                <a:moveTo>
                  <a:pt x="0" y="0"/>
                </a:moveTo>
                <a:lnTo>
                  <a:pt x="14799748" y="0"/>
                </a:lnTo>
                <a:lnTo>
                  <a:pt x="14799748" y="3638476"/>
                </a:lnTo>
                <a:lnTo>
                  <a:pt x="0" y="363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56747" y="6181986"/>
            <a:ext cx="14639205" cy="3671987"/>
          </a:xfrm>
          <a:custGeom>
            <a:avLst/>
            <a:gdLst/>
            <a:ahLst/>
            <a:cxnLst/>
            <a:rect r="r" b="b" t="t" l="l"/>
            <a:pathLst>
              <a:path h="3671987" w="14639205">
                <a:moveTo>
                  <a:pt x="0" y="0"/>
                </a:moveTo>
                <a:lnTo>
                  <a:pt x="14639205" y="0"/>
                </a:lnTo>
                <a:lnTo>
                  <a:pt x="14639205" y="3671987"/>
                </a:lnTo>
                <a:lnTo>
                  <a:pt x="0" y="3671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B – REGISTER MAP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172" y="2041401"/>
            <a:ext cx="15817128" cy="3840804"/>
          </a:xfrm>
          <a:custGeom>
            <a:avLst/>
            <a:gdLst/>
            <a:ahLst/>
            <a:cxnLst/>
            <a:rect r="r" b="b" t="t" l="l"/>
            <a:pathLst>
              <a:path h="3840804" w="15817128">
                <a:moveTo>
                  <a:pt x="0" y="0"/>
                </a:moveTo>
                <a:lnTo>
                  <a:pt x="15817128" y="0"/>
                </a:lnTo>
                <a:lnTo>
                  <a:pt x="15817128" y="3840804"/>
                </a:lnTo>
                <a:lnTo>
                  <a:pt x="0" y="3840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2172" y="6088094"/>
            <a:ext cx="15817128" cy="3949893"/>
          </a:xfrm>
          <a:custGeom>
            <a:avLst/>
            <a:gdLst/>
            <a:ahLst/>
            <a:cxnLst/>
            <a:rect r="r" b="b" t="t" l="l"/>
            <a:pathLst>
              <a:path h="3949893" w="15817128">
                <a:moveTo>
                  <a:pt x="0" y="0"/>
                </a:moveTo>
                <a:lnTo>
                  <a:pt x="15817128" y="0"/>
                </a:lnTo>
                <a:lnTo>
                  <a:pt x="15817128" y="3949893"/>
                </a:lnTo>
                <a:lnTo>
                  <a:pt x="0" y="3949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B – REGISTER MAP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9760" y="1813566"/>
            <a:ext cx="11267705" cy="7444734"/>
          </a:xfrm>
          <a:custGeom>
            <a:avLst/>
            <a:gdLst/>
            <a:ahLst/>
            <a:cxnLst/>
            <a:rect r="r" b="b" t="t" l="l"/>
            <a:pathLst>
              <a:path h="7444734" w="11267705">
                <a:moveTo>
                  <a:pt x="0" y="0"/>
                </a:moveTo>
                <a:lnTo>
                  <a:pt x="11267705" y="0"/>
                </a:lnTo>
                <a:lnTo>
                  <a:pt x="11267705" y="7444734"/>
                </a:lnTo>
                <a:lnTo>
                  <a:pt x="0" y="7444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C – UVM TESTBENCH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 Kiến trúc tổng thể UVM Testbench của AXI-to-APB Bridge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312" y="2598140"/>
            <a:ext cx="17078853" cy="5538410"/>
          </a:xfrm>
          <a:custGeom>
            <a:avLst/>
            <a:gdLst/>
            <a:ahLst/>
            <a:cxnLst/>
            <a:rect r="r" b="b" t="t" l="l"/>
            <a:pathLst>
              <a:path h="5538410" w="17078853">
                <a:moveTo>
                  <a:pt x="0" y="0"/>
                </a:moveTo>
                <a:lnTo>
                  <a:pt x="17078853" y="0"/>
                </a:lnTo>
                <a:lnTo>
                  <a:pt x="17078853" y="5538410"/>
                </a:lnTo>
                <a:lnTo>
                  <a:pt x="0" y="5538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C – UVM TESTBENCH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212" y="9344977"/>
            <a:ext cx="16531953" cy="6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642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Cấu trúc phân cấp thư mục và các thành phần chính của môi trường verification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8703" y="2672335"/>
            <a:ext cx="3949696" cy="3167777"/>
          </a:xfrm>
          <a:custGeom>
            <a:avLst/>
            <a:gdLst/>
            <a:ahLst/>
            <a:cxnLst/>
            <a:rect r="r" b="b" t="t" l="l"/>
            <a:pathLst>
              <a:path h="3167777" w="3949696">
                <a:moveTo>
                  <a:pt x="0" y="0"/>
                </a:moveTo>
                <a:lnTo>
                  <a:pt x="3949696" y="0"/>
                </a:lnTo>
                <a:lnTo>
                  <a:pt x="3949696" y="3167776"/>
                </a:lnTo>
                <a:lnTo>
                  <a:pt x="0" y="3167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26741" y="3190470"/>
            <a:ext cx="2345811" cy="3070532"/>
          </a:xfrm>
          <a:custGeom>
            <a:avLst/>
            <a:gdLst/>
            <a:ahLst/>
            <a:cxnLst/>
            <a:rect r="r" b="b" t="t" l="l"/>
            <a:pathLst>
              <a:path h="3070532" w="2345811">
                <a:moveTo>
                  <a:pt x="0" y="0"/>
                </a:moveTo>
                <a:lnTo>
                  <a:pt x="2345811" y="0"/>
                </a:lnTo>
                <a:lnTo>
                  <a:pt x="2345811" y="3070532"/>
                </a:lnTo>
                <a:lnTo>
                  <a:pt x="0" y="3070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09863" y="3417184"/>
            <a:ext cx="2068274" cy="2617103"/>
          </a:xfrm>
          <a:custGeom>
            <a:avLst/>
            <a:gdLst/>
            <a:ahLst/>
            <a:cxnLst/>
            <a:rect r="r" b="b" t="t" l="l"/>
            <a:pathLst>
              <a:path h="2617103" w="2068274">
                <a:moveTo>
                  <a:pt x="0" y="0"/>
                </a:moveTo>
                <a:lnTo>
                  <a:pt x="2068274" y="0"/>
                </a:lnTo>
                <a:lnTo>
                  <a:pt x="2068274" y="2617104"/>
                </a:lnTo>
                <a:lnTo>
                  <a:pt x="0" y="2617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1548" y="3689974"/>
            <a:ext cx="1555690" cy="2071524"/>
          </a:xfrm>
          <a:custGeom>
            <a:avLst/>
            <a:gdLst/>
            <a:ahLst/>
            <a:cxnLst/>
            <a:rect r="r" b="b" t="t" l="l"/>
            <a:pathLst>
              <a:path h="2071524" w="1555690">
                <a:moveTo>
                  <a:pt x="0" y="0"/>
                </a:moveTo>
                <a:lnTo>
                  <a:pt x="1555689" y="0"/>
                </a:lnTo>
                <a:lnTo>
                  <a:pt x="1555689" y="2071524"/>
                </a:lnTo>
                <a:lnTo>
                  <a:pt x="0" y="20715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8424" y="6731389"/>
            <a:ext cx="2173824" cy="2961139"/>
          </a:xfrm>
          <a:custGeom>
            <a:avLst/>
            <a:gdLst/>
            <a:ahLst/>
            <a:cxnLst/>
            <a:rect r="r" b="b" t="t" l="l"/>
            <a:pathLst>
              <a:path h="2961139" w="2173824">
                <a:moveTo>
                  <a:pt x="0" y="0"/>
                </a:moveTo>
                <a:lnTo>
                  <a:pt x="2173825" y="0"/>
                </a:lnTo>
                <a:lnTo>
                  <a:pt x="2173825" y="2961139"/>
                </a:lnTo>
                <a:lnTo>
                  <a:pt x="0" y="2961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19309" y="3865961"/>
            <a:ext cx="1932016" cy="2555079"/>
          </a:xfrm>
          <a:custGeom>
            <a:avLst/>
            <a:gdLst/>
            <a:ahLst/>
            <a:cxnLst/>
            <a:rect r="r" b="b" t="t" l="l"/>
            <a:pathLst>
              <a:path h="2555079" w="1932016">
                <a:moveTo>
                  <a:pt x="0" y="0"/>
                </a:moveTo>
                <a:lnTo>
                  <a:pt x="1932016" y="0"/>
                </a:lnTo>
                <a:lnTo>
                  <a:pt x="1932016" y="2555078"/>
                </a:lnTo>
                <a:lnTo>
                  <a:pt x="0" y="2555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95281" y="6933861"/>
            <a:ext cx="3590036" cy="2556197"/>
          </a:xfrm>
          <a:custGeom>
            <a:avLst/>
            <a:gdLst/>
            <a:ahLst/>
            <a:cxnLst/>
            <a:rect r="r" b="b" t="t" l="l"/>
            <a:pathLst>
              <a:path h="2556197" w="3590036">
                <a:moveTo>
                  <a:pt x="0" y="0"/>
                </a:moveTo>
                <a:lnTo>
                  <a:pt x="3590036" y="0"/>
                </a:lnTo>
                <a:lnTo>
                  <a:pt x="3590036" y="2556196"/>
                </a:lnTo>
                <a:lnTo>
                  <a:pt x="0" y="2556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79680" y="6832625"/>
            <a:ext cx="4033964" cy="2758668"/>
          </a:xfrm>
          <a:custGeom>
            <a:avLst/>
            <a:gdLst/>
            <a:ahLst/>
            <a:cxnLst/>
            <a:rect r="r" b="b" t="t" l="l"/>
            <a:pathLst>
              <a:path h="2758668" w="4033964">
                <a:moveTo>
                  <a:pt x="0" y="0"/>
                </a:moveTo>
                <a:lnTo>
                  <a:pt x="4033964" y="0"/>
                </a:lnTo>
                <a:lnTo>
                  <a:pt x="4033964" y="2758668"/>
                </a:lnTo>
                <a:lnTo>
                  <a:pt x="0" y="2758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27386" y="499501"/>
            <a:ext cx="12183846" cy="178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D – VIP HAY GÌ ĐÓ, ẢNH DRV, MON SB CỦA M Á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E – NHỮNG BUG PHÁT HIỆN ĐƯỢC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7386" y="499501"/>
            <a:ext cx="12183846" cy="8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5203" b="true">
                <a:solidFill>
                  <a:srgbClr val="001F60"/>
                </a:solidFill>
                <a:latin typeface="Cabin Bold"/>
                <a:ea typeface="Cabin Bold"/>
                <a:cs typeface="Cabin Bold"/>
                <a:sym typeface="Cabin Bold"/>
              </a:rPr>
              <a:t>F – COVERAGE CHI TIẾT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DAHNAELFaho</dc:identifier>
  <dcterms:modified xsi:type="dcterms:W3CDTF">2011-08-01T06:04:30Z</dcterms:modified>
  <cp:revision>1</cp:revision>
  <dc:title>AXI-APB_Bridge_UVM_Verification.pptx</dc:title>
</cp:coreProperties>
</file>